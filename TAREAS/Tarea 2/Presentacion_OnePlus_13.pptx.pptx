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ptos Bold" charset="1" panose="020B0004020202020204"/>
      <p:regular r:id="rId20"/>
    </p:embeddedFont>
    <p:embeddedFont>
      <p:font typeface="Lora Bold" charset="1" panose="00000800000000000000"/>
      <p:regular r:id="rId21"/>
    </p:embeddedFont>
    <p:embeddedFont>
      <p:font typeface="Aptos" charset="1" panose="020B00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Presentar al equipo y explicar que el análisis evalúa el teléfono como sistema de cómputo móvil, no solo como ficha técnica.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tesis es que la ventaja surge de la combinación entre SoC, pantalla eficiente y batería de gran capacidad.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tesis es que la ventaja surge de la combinación entre SoC, pantalla eficiente y batería de gran capacidad.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Explicar brevemente las unidades del Snapdragon y por qué la integración mejora latencia y consumo.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Aclarar que cada tecnología tiene límites: IP69 no significa impermeabilidad y el zoom máximo es digital.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Resumir el salto desde el OnePlus 12. En la gráfica, protección y lector son índices cualitativos.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Comparar propuestas, no declarar un ganador universal: la elección depende de autonomía, ecosistema, cámara o productividad.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Mencionar precios de lanzamiento y el efecto positivo y negativo de concentrar actividades en el teléfono.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Dar el caso de la vulnerabilidad como prueba de que soporte y velocidad de respuesta importan tanto como biometría.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Leer solo dos ejemplos del FODA y conectar debilidades con la propuesta final.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Cerrar con la prioridad: siete años de soporte, luego Qi2 y reparabilidad. Esta es la recomendación principal del equipo.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https://vt.tiktok.com/ZSqnrNyBc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44397" y="1267506"/>
            <a:ext cx="7114903" cy="7943117"/>
            <a:chOff x="0" y="0"/>
            <a:chExt cx="8524850" cy="9517190"/>
          </a:xfrm>
        </p:grpSpPr>
        <p:sp>
          <p:nvSpPr>
            <p:cNvPr name="Freeform 3" id="3" descr="oneplus13.png"/>
            <p:cNvSpPr/>
            <p:nvPr/>
          </p:nvSpPr>
          <p:spPr>
            <a:xfrm flipH="false" flipV="false" rot="0">
              <a:off x="0" y="0"/>
              <a:ext cx="8524914" cy="9517253"/>
            </a:xfrm>
            <a:custGeom>
              <a:avLst/>
              <a:gdLst/>
              <a:ahLst/>
              <a:cxnLst/>
              <a:rect r="r" b="b" t="t" l="l"/>
              <a:pathLst>
                <a:path h="9517253" w="8524914">
                  <a:moveTo>
                    <a:pt x="0" y="0"/>
                  </a:moveTo>
                  <a:lnTo>
                    <a:pt x="8524914" y="0"/>
                  </a:lnTo>
                  <a:lnTo>
                    <a:pt x="8524914" y="9517253"/>
                  </a:lnTo>
                  <a:lnTo>
                    <a:pt x="0" y="9517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820" t="0" r="-582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1075220"/>
            <a:ext cx="8602228" cy="155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RADIOGRAFÍA DE</a:t>
            </a:r>
          </a:p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DISPOSITIVO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2644273"/>
            <a:ext cx="8602228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64"/>
              </a:lnSpc>
            </a:pPr>
            <a:r>
              <a:rPr lang="en-US" sz="11303" b="tru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OnePlus 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9764" y="5172075"/>
            <a:ext cx="777862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Potencia, autonomía y los compromisos de un flagship Android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4861" y="6877364"/>
            <a:ext cx="846495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1"/>
              </a:lnSpc>
            </a:pPr>
            <a:r>
              <a:rPr lang="en-US" sz="2651">
                <a:solidFill>
                  <a:srgbClr val="C9D3E6"/>
                </a:solidFill>
                <a:latin typeface="Aptos"/>
                <a:ea typeface="Aptos"/>
                <a:cs typeface="Aptos"/>
                <a:sym typeface="Aptos"/>
              </a:rPr>
              <a:t>Cómputo Móvil · Grupo 03 · Semestre 2027-1</a:t>
            </a:r>
          </a:p>
          <a:p>
            <a:pPr algn="l">
              <a:lnSpc>
                <a:spcPts val="3181"/>
              </a:lnSpc>
            </a:pPr>
            <a:r>
              <a:rPr lang="en-US" sz="2651">
                <a:solidFill>
                  <a:srgbClr val="C9D3E6"/>
                </a:solidFill>
                <a:latin typeface="Aptos"/>
                <a:ea typeface="Aptos"/>
                <a:cs typeface="Aptos"/>
                <a:sym typeface="Aptos"/>
              </a:rPr>
              <a:t>Equipo 4  · 18 de septiembre de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9764" y="9164469"/>
            <a:ext cx="1587738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751" b="true">
                <a:solidFill>
                  <a:srgbClr val="C9D3E6"/>
                </a:solidFill>
                <a:latin typeface="Aptos Bold"/>
                <a:ea typeface="Aptos Bold"/>
                <a:cs typeface="Aptos Bold"/>
                <a:sym typeface="Aptos Bold"/>
              </a:rPr>
              <a:t>Facultad de Ingeniería · INGENIERÍA EN COMPUTACIÓN</a:t>
            </a:r>
          </a:p>
          <a:p>
            <a:pPr algn="l">
              <a:lnSpc>
                <a:spcPts val="330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146" y="526151"/>
            <a:ext cx="640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32744" y="425863"/>
            <a:ext cx="15877384" cy="69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¿Qué representa el OnePlus 13?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6469" y="1226220"/>
            <a:ext cx="1546559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Un flagship que prioriza rendimiento y autonomía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3675" y="2173367"/>
            <a:ext cx="2699728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true">
                <a:solidFill>
                  <a:srgbClr val="2E5BFF"/>
                </a:solidFill>
                <a:latin typeface="Aptos Bold"/>
                <a:ea typeface="Aptos Bold"/>
                <a:cs typeface="Aptos Bold"/>
                <a:sym typeface="Aptos Bold"/>
              </a:rPr>
              <a:t>6000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2312" y="3134230"/>
            <a:ext cx="2837002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mAh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batería silicio-carbono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27156" y="2163842"/>
            <a:ext cx="2837002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5"/>
              </a:lnSpc>
            </a:pPr>
            <a:r>
              <a:rPr lang="en-US" sz="5854" b="true">
                <a:solidFill>
                  <a:srgbClr val="2E5BFF"/>
                </a:solidFill>
                <a:latin typeface="Aptos Bold"/>
                <a:ea typeface="Aptos Bold"/>
                <a:cs typeface="Aptos Bold"/>
                <a:sym typeface="Aptos Bold"/>
              </a:rPr>
              <a:t>8 Elite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95793" y="3134230"/>
            <a:ext cx="3111532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Snapdragon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CPU Oryon + GPU Adreno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45175" y="2163842"/>
            <a:ext cx="2837002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5"/>
              </a:lnSpc>
            </a:pPr>
            <a:r>
              <a:rPr lang="en-US" sz="5854" b="true">
                <a:solidFill>
                  <a:srgbClr val="2E5BFF"/>
                </a:solidFill>
                <a:latin typeface="Aptos Bold"/>
                <a:ea typeface="Aptos Bold"/>
                <a:cs typeface="Aptos Bold"/>
                <a:sym typeface="Aptos Bold"/>
              </a:rPr>
              <a:t>3 × 50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13812" y="3134230"/>
            <a:ext cx="2974267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MP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sistema de cámaras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00459" y="2163842"/>
            <a:ext cx="2837002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5"/>
              </a:lnSpc>
            </a:pPr>
            <a:r>
              <a:rPr lang="en-US" sz="5854" b="true">
                <a:solidFill>
                  <a:srgbClr val="2E5BFF"/>
                </a:solidFill>
                <a:latin typeface="Aptos Bold"/>
                <a:ea typeface="Aptos Bold"/>
                <a:cs typeface="Aptos Bold"/>
                <a:sym typeface="Aptos Bold"/>
              </a:rPr>
              <a:t>1–120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69097" y="3134230"/>
            <a:ext cx="3111532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Hz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pantalla LTPO QHD+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3719" y="4934474"/>
            <a:ext cx="16349101" cy="3240081"/>
            <a:chOff x="0" y="0"/>
            <a:chExt cx="21798801" cy="43201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98787" cy="4320159"/>
            </a:xfrm>
            <a:custGeom>
              <a:avLst/>
              <a:gdLst/>
              <a:ahLst/>
              <a:cxnLst/>
              <a:rect r="r" b="b" t="t" l="l"/>
              <a:pathLst>
                <a:path h="4320159" w="21798787">
                  <a:moveTo>
                    <a:pt x="0" y="0"/>
                  </a:moveTo>
                  <a:lnTo>
                    <a:pt x="21798787" y="0"/>
                  </a:lnTo>
                  <a:lnTo>
                    <a:pt x="21798787" y="4320159"/>
                  </a:lnTo>
                  <a:lnTo>
                    <a:pt x="0" y="4320159"/>
                  </a:lnTo>
                  <a:close/>
                </a:path>
              </a:pathLst>
            </a:custGeom>
            <a:solidFill>
              <a:srgbClr val="EAF0FF"/>
            </a:solidFill>
            <a:ln w="14299" cap="sq">
              <a:solidFill>
                <a:srgbClr val="EAF0F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532744" y="5440318"/>
            <a:ext cx="2562463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Idea central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2744" y="6154112"/>
            <a:ext cx="14504718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Su ventaja no es una sola pieza: procesador, pantalla y batería trabajan juntos para sostener una experiencia rápida durante más tiempo.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6411" y="9864528"/>
            <a:ext cx="16014659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Fuente: OnePlus, especificaciones oficiales.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04499" y="255822"/>
            <a:ext cx="2905630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ONEPLUS 13  ·  EQUIPO [NÚMERO]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3719" y="4934474"/>
            <a:ext cx="16349101" cy="3240081"/>
            <a:chOff x="0" y="0"/>
            <a:chExt cx="21798801" cy="4320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98787" cy="4320159"/>
            </a:xfrm>
            <a:custGeom>
              <a:avLst/>
              <a:gdLst/>
              <a:ahLst/>
              <a:cxnLst/>
              <a:rect r="r" b="b" t="t" l="l"/>
              <a:pathLst>
                <a:path h="4320159" w="21798787">
                  <a:moveTo>
                    <a:pt x="0" y="0"/>
                  </a:moveTo>
                  <a:lnTo>
                    <a:pt x="21798787" y="0"/>
                  </a:lnTo>
                  <a:lnTo>
                    <a:pt x="21798787" y="4320159"/>
                  </a:lnTo>
                  <a:lnTo>
                    <a:pt x="0" y="4320159"/>
                  </a:lnTo>
                  <a:close/>
                </a:path>
              </a:pathLst>
            </a:custGeom>
            <a:solidFill>
              <a:srgbClr val="EAF0FF"/>
            </a:solidFill>
            <a:ln w="14299" cap="sq">
              <a:solidFill>
                <a:srgbClr val="EAF0FF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49873" y="2839525"/>
            <a:ext cx="4115262" cy="3057601"/>
          </a:xfrm>
          <a:custGeom>
            <a:avLst/>
            <a:gdLst/>
            <a:ahLst/>
            <a:cxnLst/>
            <a:rect r="r" b="b" t="t" l="l"/>
            <a:pathLst>
              <a:path h="3057601" w="4115262">
                <a:moveTo>
                  <a:pt x="0" y="0"/>
                </a:moveTo>
                <a:lnTo>
                  <a:pt x="4115262" y="0"/>
                </a:lnTo>
                <a:lnTo>
                  <a:pt x="4115262" y="3057601"/>
                </a:lnTo>
                <a:lnTo>
                  <a:pt x="0" y="3057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74908" y="1719986"/>
            <a:ext cx="4581656" cy="5752907"/>
          </a:xfrm>
          <a:custGeom>
            <a:avLst/>
            <a:gdLst/>
            <a:ahLst/>
            <a:cxnLst/>
            <a:rect r="r" b="b" t="t" l="l"/>
            <a:pathLst>
              <a:path h="5752907" w="4581656">
                <a:moveTo>
                  <a:pt x="0" y="0"/>
                </a:moveTo>
                <a:lnTo>
                  <a:pt x="4581657" y="0"/>
                </a:lnTo>
                <a:lnTo>
                  <a:pt x="4581657" y="5752907"/>
                </a:lnTo>
                <a:lnTo>
                  <a:pt x="0" y="5752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18958" y="1722286"/>
            <a:ext cx="5693102" cy="5750608"/>
          </a:xfrm>
          <a:custGeom>
            <a:avLst/>
            <a:gdLst/>
            <a:ahLst/>
            <a:cxnLst/>
            <a:rect r="r" b="b" t="t" l="l"/>
            <a:pathLst>
              <a:path h="5750608" w="5693102">
                <a:moveTo>
                  <a:pt x="0" y="0"/>
                </a:moveTo>
                <a:lnTo>
                  <a:pt x="5693102" y="0"/>
                </a:lnTo>
                <a:lnTo>
                  <a:pt x="5693102" y="5750607"/>
                </a:lnTo>
                <a:lnTo>
                  <a:pt x="0" y="57506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09146" y="526151"/>
            <a:ext cx="640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2744" y="425863"/>
            <a:ext cx="15877384" cy="69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¿Qué representa el OnePlus 13?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6469" y="1226220"/>
            <a:ext cx="1546559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Un flagship que prioriza rendimiento y autonomía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6411" y="9864528"/>
            <a:ext cx="16014659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Fuente: OnePlus, especificaciones oficiales.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04499" y="255822"/>
            <a:ext cx="2905630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ONEPLUS 13  ·  EQUIPO [NÚMERO]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146" y="526151"/>
            <a:ext cx="640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32744" y="425863"/>
            <a:ext cx="15877384" cy="69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Arquitectura del sistema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6469" y="1226220"/>
            <a:ext cx="1546559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Un sistema en chip coordina las cargas especializadas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47817" y="2120494"/>
            <a:ext cx="2828277" cy="2759640"/>
            <a:chOff x="0" y="0"/>
            <a:chExt cx="3771036" cy="3679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71011" cy="3679571"/>
            </a:xfrm>
            <a:custGeom>
              <a:avLst/>
              <a:gdLst/>
              <a:ahLst/>
              <a:cxnLst/>
              <a:rect r="r" b="b" t="t" l="l"/>
              <a:pathLst>
                <a:path h="3679571" w="377101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3157728" y="0"/>
                  </a:lnTo>
                  <a:cubicBezTo>
                    <a:pt x="3496437" y="0"/>
                    <a:pt x="3771011" y="274574"/>
                    <a:pt x="3771011" y="613283"/>
                  </a:cubicBezTo>
                  <a:lnTo>
                    <a:pt x="3771011" y="3066288"/>
                  </a:lnTo>
                  <a:cubicBezTo>
                    <a:pt x="3771011" y="3404997"/>
                    <a:pt x="3496437" y="3679571"/>
                    <a:pt x="315772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7233B"/>
            </a:solidFill>
            <a:ln w="14299" cap="sq">
              <a:solidFill>
                <a:srgbClr val="17233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93489" y="2626347"/>
            <a:ext cx="215065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CPU Oryon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3489" y="3477397"/>
            <a:ext cx="215065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C9D3E6"/>
                </a:solidFill>
                <a:latin typeface="Aptos"/>
                <a:ea typeface="Aptos"/>
                <a:cs typeface="Aptos"/>
                <a:sym typeface="Aptos"/>
              </a:rPr>
              <a:t>Sistema y apps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206954" y="2120494"/>
            <a:ext cx="2828277" cy="2759640"/>
            <a:chOff x="0" y="0"/>
            <a:chExt cx="3771036" cy="3679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1011" cy="3679571"/>
            </a:xfrm>
            <a:custGeom>
              <a:avLst/>
              <a:gdLst/>
              <a:ahLst/>
              <a:cxnLst/>
              <a:rect r="r" b="b" t="t" l="l"/>
              <a:pathLst>
                <a:path h="3679571" w="377101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3157728" y="0"/>
                  </a:lnTo>
                  <a:cubicBezTo>
                    <a:pt x="3496437" y="0"/>
                    <a:pt x="3771011" y="274574"/>
                    <a:pt x="3771011" y="613283"/>
                  </a:cubicBezTo>
                  <a:lnTo>
                    <a:pt x="3771011" y="3066288"/>
                  </a:lnTo>
                  <a:cubicBezTo>
                    <a:pt x="3771011" y="3404997"/>
                    <a:pt x="3496437" y="3679571"/>
                    <a:pt x="315772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7233B"/>
            </a:solidFill>
            <a:ln w="14299" cap="sq">
              <a:solidFill>
                <a:srgbClr val="17233B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4552626" y="2626347"/>
            <a:ext cx="215065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GPU Adreno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52626" y="3477397"/>
            <a:ext cx="215065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C9D3E6"/>
                </a:solidFill>
                <a:latin typeface="Aptos"/>
                <a:ea typeface="Aptos"/>
                <a:cs typeface="Aptos"/>
                <a:sym typeface="Aptos"/>
              </a:rPr>
              <a:t>Gráficos y juegos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666091" y="2120494"/>
            <a:ext cx="2828277" cy="2759640"/>
            <a:chOff x="0" y="0"/>
            <a:chExt cx="3771036" cy="3679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71011" cy="3679571"/>
            </a:xfrm>
            <a:custGeom>
              <a:avLst/>
              <a:gdLst/>
              <a:ahLst/>
              <a:cxnLst/>
              <a:rect r="r" b="b" t="t" l="l"/>
              <a:pathLst>
                <a:path h="3679571" w="377101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3157728" y="0"/>
                  </a:lnTo>
                  <a:cubicBezTo>
                    <a:pt x="3496437" y="0"/>
                    <a:pt x="3771011" y="274574"/>
                    <a:pt x="3771011" y="613283"/>
                  </a:cubicBezTo>
                  <a:lnTo>
                    <a:pt x="3771011" y="3066288"/>
                  </a:lnTo>
                  <a:cubicBezTo>
                    <a:pt x="3771011" y="3404997"/>
                    <a:pt x="3496437" y="3679571"/>
                    <a:pt x="315772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7233B"/>
            </a:solidFill>
            <a:ln w="14299" cap="sq">
              <a:solidFill>
                <a:srgbClr val="17233B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011763" y="2626347"/>
            <a:ext cx="215065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NPU Hexagon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11763" y="3477397"/>
            <a:ext cx="215065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C9D3E6"/>
                </a:solidFill>
                <a:latin typeface="Aptos"/>
                <a:ea typeface="Aptos"/>
                <a:cs typeface="Aptos"/>
                <a:sym typeface="Aptos"/>
              </a:rPr>
              <a:t>IA local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125229" y="2120494"/>
            <a:ext cx="2828277" cy="2759640"/>
            <a:chOff x="0" y="0"/>
            <a:chExt cx="3771036" cy="3679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71011" cy="3679571"/>
            </a:xfrm>
            <a:custGeom>
              <a:avLst/>
              <a:gdLst/>
              <a:ahLst/>
              <a:cxnLst/>
              <a:rect r="r" b="b" t="t" l="l"/>
              <a:pathLst>
                <a:path h="3679571" w="377101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3157728" y="0"/>
                  </a:lnTo>
                  <a:cubicBezTo>
                    <a:pt x="3496437" y="0"/>
                    <a:pt x="3771011" y="274574"/>
                    <a:pt x="3771011" y="613283"/>
                  </a:cubicBezTo>
                  <a:lnTo>
                    <a:pt x="3771011" y="3066288"/>
                  </a:lnTo>
                  <a:cubicBezTo>
                    <a:pt x="3771011" y="3404997"/>
                    <a:pt x="3496437" y="3679571"/>
                    <a:pt x="315772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7233B"/>
            </a:solidFill>
            <a:ln w="14299" cap="sq">
              <a:solidFill>
                <a:srgbClr val="17233B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1470891" y="2626347"/>
            <a:ext cx="215065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ISP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70891" y="3477397"/>
            <a:ext cx="215065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C9D3E6"/>
                </a:solidFill>
                <a:latin typeface="Aptos"/>
                <a:ea typeface="Aptos"/>
                <a:cs typeface="Aptos"/>
                <a:sym typeface="Aptos"/>
              </a:rPr>
              <a:t>Foto y video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584356" y="2120494"/>
            <a:ext cx="2828277" cy="2759640"/>
            <a:chOff x="0" y="0"/>
            <a:chExt cx="3771036" cy="3679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71011" cy="3679571"/>
            </a:xfrm>
            <a:custGeom>
              <a:avLst/>
              <a:gdLst/>
              <a:ahLst/>
              <a:cxnLst/>
              <a:rect r="r" b="b" t="t" l="l"/>
              <a:pathLst>
                <a:path h="3679571" w="377101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3157728" y="0"/>
                  </a:lnTo>
                  <a:cubicBezTo>
                    <a:pt x="3496437" y="0"/>
                    <a:pt x="3771011" y="274574"/>
                    <a:pt x="3771011" y="613283"/>
                  </a:cubicBezTo>
                  <a:lnTo>
                    <a:pt x="3771011" y="3066288"/>
                  </a:lnTo>
                  <a:cubicBezTo>
                    <a:pt x="3771011" y="3404997"/>
                    <a:pt x="3496437" y="3679571"/>
                    <a:pt x="315772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7233B"/>
            </a:solidFill>
            <a:ln w="14299" cap="sq">
              <a:solidFill>
                <a:srgbClr val="17233B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4930028" y="2626347"/>
            <a:ext cx="215065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Módem 5G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930028" y="3477397"/>
            <a:ext cx="215065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C9D3E6"/>
                </a:solidFill>
                <a:latin typeface="Aptos"/>
                <a:ea typeface="Aptos"/>
                <a:cs typeface="Aptos"/>
                <a:sym typeface="Aptos"/>
              </a:rPr>
              <a:t>Conectividad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4116" y="5879573"/>
            <a:ext cx="15328316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2E5BFF"/>
                </a:solidFill>
                <a:latin typeface="Aptos Bold"/>
                <a:ea typeface="Aptos Bold"/>
                <a:cs typeface="Aptos Bold"/>
                <a:sym typeface="Aptos Bold"/>
              </a:rPr>
              <a:t>OxygenOS 15 administra memoria, energía, permisos y aplicaciones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44548" y="7183612"/>
            <a:ext cx="14367443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La integración reduce latencia y consumo, pero también concentra la dependencia en el fabricante y sus actualizaciones.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6411" y="9864528"/>
            <a:ext cx="16014659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Fuentes: OnePlus; Qualcomm, Snapdragon 8 Elite.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504499" y="255822"/>
            <a:ext cx="2905630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ONEPLUS 13  ·  EQUIPO [NÚMERO]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146" y="526151"/>
            <a:ext cx="640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32744" y="425863"/>
            <a:ext cx="15877384" cy="69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Tecnologías que sí cambian la experiencia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6469" y="1226220"/>
            <a:ext cx="1546559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Diferenciadores con una consecuencia práctica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85092" y="1983229"/>
            <a:ext cx="5093189" cy="2622375"/>
            <a:chOff x="0" y="0"/>
            <a:chExt cx="6790919" cy="3496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0944" cy="3496564"/>
            </a:xfrm>
            <a:custGeom>
              <a:avLst/>
              <a:gdLst/>
              <a:ahLst/>
              <a:cxnLst/>
              <a:rect r="r" b="b" t="t" l="l"/>
              <a:pathLst>
                <a:path h="3496564" w="6790944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208141" y="0"/>
                  </a:lnTo>
                  <a:cubicBezTo>
                    <a:pt x="6529959" y="0"/>
                    <a:pt x="6790944" y="260858"/>
                    <a:pt x="6790944" y="582803"/>
                  </a:cubicBezTo>
                  <a:lnTo>
                    <a:pt x="6790944" y="2913761"/>
                  </a:lnTo>
                  <a:cubicBezTo>
                    <a:pt x="6790944" y="3235579"/>
                    <a:pt x="6530086" y="3496564"/>
                    <a:pt x="6208141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D9E2F2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13117" y="2338083"/>
            <a:ext cx="4209669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Batería Si-C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3117" y="3106779"/>
            <a:ext cx="4209669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Más capacidad sin aumentar demasiado el grosor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22856" y="1983229"/>
            <a:ext cx="5093189" cy="2622375"/>
            <a:chOff x="0" y="0"/>
            <a:chExt cx="6790919" cy="3496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90944" cy="3496564"/>
            </a:xfrm>
            <a:custGeom>
              <a:avLst/>
              <a:gdLst/>
              <a:ahLst/>
              <a:cxnLst/>
              <a:rect r="r" b="b" t="t" l="l"/>
              <a:pathLst>
                <a:path h="3496564" w="6790944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208141" y="0"/>
                  </a:lnTo>
                  <a:cubicBezTo>
                    <a:pt x="6529959" y="0"/>
                    <a:pt x="6790944" y="260858"/>
                    <a:pt x="6790944" y="582803"/>
                  </a:cubicBezTo>
                  <a:lnTo>
                    <a:pt x="6790944" y="2913761"/>
                  </a:lnTo>
                  <a:cubicBezTo>
                    <a:pt x="6790944" y="3235579"/>
                    <a:pt x="6530086" y="3496564"/>
                    <a:pt x="6208141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D9E2F2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7050891" y="2338083"/>
            <a:ext cx="4209669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LTPO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50891" y="3106779"/>
            <a:ext cx="4209669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Fluidez cuando se necesita; ahorro en contenido estático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360631" y="1983229"/>
            <a:ext cx="5093189" cy="2622375"/>
            <a:chOff x="0" y="0"/>
            <a:chExt cx="6790919" cy="3496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90944" cy="3496564"/>
            </a:xfrm>
            <a:custGeom>
              <a:avLst/>
              <a:gdLst/>
              <a:ahLst/>
              <a:cxnLst/>
              <a:rect r="r" b="b" t="t" l="l"/>
              <a:pathLst>
                <a:path h="3496564" w="6790944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208141" y="0"/>
                  </a:lnTo>
                  <a:cubicBezTo>
                    <a:pt x="6529959" y="0"/>
                    <a:pt x="6790944" y="260858"/>
                    <a:pt x="6790944" y="582803"/>
                  </a:cubicBezTo>
                  <a:lnTo>
                    <a:pt x="6790944" y="2913761"/>
                  </a:lnTo>
                  <a:cubicBezTo>
                    <a:pt x="6790944" y="3235579"/>
                    <a:pt x="6530086" y="3496564"/>
                    <a:pt x="6208141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D9E2F2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788656" y="2338083"/>
            <a:ext cx="4209669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Huella ultrasónica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88656" y="3106779"/>
            <a:ext cx="4209669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Autenticación rápida incluso con humedad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85092" y="5209003"/>
            <a:ext cx="5093189" cy="2622375"/>
            <a:chOff x="0" y="0"/>
            <a:chExt cx="6790919" cy="3496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90944" cy="3496564"/>
            </a:xfrm>
            <a:custGeom>
              <a:avLst/>
              <a:gdLst/>
              <a:ahLst/>
              <a:cxnLst/>
              <a:rect r="r" b="b" t="t" l="l"/>
              <a:pathLst>
                <a:path h="3496564" w="6790944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208141" y="0"/>
                  </a:lnTo>
                  <a:cubicBezTo>
                    <a:pt x="6529959" y="0"/>
                    <a:pt x="6790944" y="260858"/>
                    <a:pt x="6790944" y="582803"/>
                  </a:cubicBezTo>
                  <a:lnTo>
                    <a:pt x="6790944" y="2913761"/>
                  </a:lnTo>
                  <a:cubicBezTo>
                    <a:pt x="6790944" y="3235579"/>
                    <a:pt x="6530086" y="3496564"/>
                    <a:pt x="6208141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D9E2F2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313117" y="5563857"/>
            <a:ext cx="4209669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IP68 + IP69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3117" y="6332563"/>
            <a:ext cx="4209669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Protección ante inmersión controlada y chorros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22856" y="5209003"/>
            <a:ext cx="5093189" cy="2622375"/>
            <a:chOff x="0" y="0"/>
            <a:chExt cx="6790919" cy="3496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90944" cy="3496564"/>
            </a:xfrm>
            <a:custGeom>
              <a:avLst/>
              <a:gdLst/>
              <a:ahLst/>
              <a:cxnLst/>
              <a:rect r="r" b="b" t="t" l="l"/>
              <a:pathLst>
                <a:path h="3496564" w="6790944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208141" y="0"/>
                  </a:lnTo>
                  <a:cubicBezTo>
                    <a:pt x="6529959" y="0"/>
                    <a:pt x="6790944" y="260858"/>
                    <a:pt x="6790944" y="582803"/>
                  </a:cubicBezTo>
                  <a:lnTo>
                    <a:pt x="6790944" y="2913761"/>
                  </a:lnTo>
                  <a:cubicBezTo>
                    <a:pt x="6790944" y="3235579"/>
                    <a:pt x="6530086" y="3496564"/>
                    <a:pt x="6208141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D9E2F2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7050891" y="5563857"/>
            <a:ext cx="4209669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Wi-Fi 7 + 5G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50891" y="6332563"/>
            <a:ext cx="4209669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Menor latencia y mayores velocidades compatibles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360631" y="5209003"/>
            <a:ext cx="5093189" cy="2622375"/>
            <a:chOff x="0" y="0"/>
            <a:chExt cx="6790919" cy="3496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90944" cy="3496564"/>
            </a:xfrm>
            <a:custGeom>
              <a:avLst/>
              <a:gdLst/>
              <a:ahLst/>
              <a:cxnLst/>
              <a:rect r="r" b="b" t="t" l="l"/>
              <a:pathLst>
                <a:path h="3496564" w="6790944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208141" y="0"/>
                  </a:lnTo>
                  <a:cubicBezTo>
                    <a:pt x="6529959" y="0"/>
                    <a:pt x="6790944" y="260858"/>
                    <a:pt x="6790944" y="582803"/>
                  </a:cubicBezTo>
                  <a:lnTo>
                    <a:pt x="6790944" y="2913761"/>
                  </a:lnTo>
                  <a:cubicBezTo>
                    <a:pt x="6790944" y="3235579"/>
                    <a:pt x="6530086" y="3496564"/>
                    <a:pt x="6208141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D9E2F2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788656" y="5563857"/>
            <a:ext cx="4209669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Triple 50 MP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88656" y="6332563"/>
            <a:ext cx="4209669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Encuadres consistentes de ultra gran angular a telefoto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46411" y="9864528"/>
            <a:ext cx="16014659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Nota: IP68/IP69 no equivale a impermeabilidad permanente.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504499" y="255822"/>
            <a:ext cx="2905630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ONEPLUS 13  ·  EQUIPO [NÚMERO]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146" y="526151"/>
            <a:ext cx="640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32744" y="425863"/>
            <a:ext cx="15877384" cy="69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Del OnePlus 12 al 13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6469" y="1226220"/>
            <a:ext cx="1546559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Las mejoras se concentran en autonomía, protección y autenticación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1180" y="1139318"/>
            <a:ext cx="10212683" cy="8290942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180587" y="2026568"/>
            <a:ext cx="6131414" cy="74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2E5BFF"/>
                </a:solidFill>
                <a:latin typeface="Aptos Bold"/>
                <a:ea typeface="Aptos Bold"/>
                <a:cs typeface="Aptos Bold"/>
                <a:sym typeface="Aptos Bold"/>
              </a:rPr>
              <a:t>12 → 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80587" y="3202867"/>
            <a:ext cx="6955012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• Snapdragon 8 Gen 3 → 8 Elite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80587" y="4095102"/>
            <a:ext cx="6955012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• 5400 → 6000 mAh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80587" y="4987338"/>
            <a:ext cx="6955012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• Óptica → huella ultrasónica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80587" y="5879573"/>
            <a:ext cx="6955012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• IP65 → IP68/IP69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80587" y="6771818"/>
            <a:ext cx="6955012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• Diseño curvo → perfil más plano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9764" y="8762190"/>
            <a:ext cx="8053159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* Índices cualitativos para representar el salto de categoría.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6411" y="9864528"/>
            <a:ext cx="16014659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Fuentes: OnePlus 12 y OnePlus 13, fichas oficiales.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04499" y="255822"/>
            <a:ext cx="2905630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ONEPLUS 13  ·  EQUIPO [NÚMERO]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146" y="526151"/>
            <a:ext cx="640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32744" y="425863"/>
            <a:ext cx="15877384" cy="69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Competencia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6469" y="1226220"/>
            <a:ext cx="1546559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Cada flagship optimiza una propuesta distinta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85092" y="2120494"/>
            <a:ext cx="3789150" cy="5436356"/>
            <a:chOff x="0" y="0"/>
            <a:chExt cx="5052200" cy="72484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52060" cy="7248398"/>
            </a:xfrm>
            <a:custGeom>
              <a:avLst/>
              <a:gdLst/>
              <a:ahLst/>
              <a:cxnLst/>
              <a:rect r="r" b="b" t="t" l="l"/>
              <a:pathLst>
                <a:path h="7248398" w="5052060">
                  <a:moveTo>
                    <a:pt x="0" y="842010"/>
                  </a:moveTo>
                  <a:cubicBezTo>
                    <a:pt x="0" y="376936"/>
                    <a:pt x="376936" y="0"/>
                    <a:pt x="842010" y="0"/>
                  </a:cubicBezTo>
                  <a:lnTo>
                    <a:pt x="4210050" y="0"/>
                  </a:lnTo>
                  <a:cubicBezTo>
                    <a:pt x="4675124" y="0"/>
                    <a:pt x="5052060" y="376936"/>
                    <a:pt x="5052060" y="842010"/>
                  </a:cubicBezTo>
                  <a:lnTo>
                    <a:pt x="5052060" y="6406388"/>
                  </a:lnTo>
                  <a:cubicBezTo>
                    <a:pt x="5052060" y="6871462"/>
                    <a:pt x="4675124" y="7248398"/>
                    <a:pt x="4210050" y="7248398"/>
                  </a:cubicBezTo>
                  <a:lnTo>
                    <a:pt x="842010" y="7248398"/>
                  </a:lnTo>
                  <a:cubicBezTo>
                    <a:pt x="376936" y="7248398"/>
                    <a:pt x="0" y="6871462"/>
                    <a:pt x="0" y="6406388"/>
                  </a:cubicBez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D9E2F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85092" y="2120494"/>
            <a:ext cx="3789150" cy="330013"/>
            <a:chOff x="0" y="0"/>
            <a:chExt cx="5052200" cy="4400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52187" cy="440055"/>
            </a:xfrm>
            <a:custGeom>
              <a:avLst/>
              <a:gdLst/>
              <a:ahLst/>
              <a:cxnLst/>
              <a:rect r="r" b="b" t="t" l="l"/>
              <a:pathLst>
                <a:path h="440055" w="5052187">
                  <a:moveTo>
                    <a:pt x="0" y="0"/>
                  </a:moveTo>
                  <a:lnTo>
                    <a:pt x="5052187" y="0"/>
                  </a:lnTo>
                  <a:lnTo>
                    <a:pt x="5052187" y="440055"/>
                  </a:lnTo>
                  <a:lnTo>
                    <a:pt x="0" y="440055"/>
                  </a:lnTo>
                  <a:close/>
                </a:path>
              </a:pathLst>
            </a:custGeom>
            <a:solidFill>
              <a:srgbClr val="2E5BFF"/>
            </a:solidFill>
            <a:ln w="14299" cap="sq">
              <a:solidFill>
                <a:srgbClr val="2E5BF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58214" y="2791063"/>
            <a:ext cx="3042904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OnePlus 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8214" y="4026475"/>
            <a:ext cx="3042904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2E5BFF"/>
                </a:solidFill>
                <a:latin typeface="Aptos Bold"/>
                <a:ea typeface="Aptos Bold"/>
                <a:cs typeface="Aptos Bold"/>
                <a:sym typeface="Aptos Bold"/>
              </a:rPr>
              <a:t>Autonomía + velocidad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81552" y="2120494"/>
            <a:ext cx="3789150" cy="5436356"/>
            <a:chOff x="0" y="0"/>
            <a:chExt cx="5052200" cy="72484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52060" cy="7248398"/>
            </a:xfrm>
            <a:custGeom>
              <a:avLst/>
              <a:gdLst/>
              <a:ahLst/>
              <a:cxnLst/>
              <a:rect r="r" b="b" t="t" l="l"/>
              <a:pathLst>
                <a:path h="7248398" w="5052060">
                  <a:moveTo>
                    <a:pt x="0" y="842010"/>
                  </a:moveTo>
                  <a:cubicBezTo>
                    <a:pt x="0" y="376936"/>
                    <a:pt x="376936" y="0"/>
                    <a:pt x="842010" y="0"/>
                  </a:cubicBezTo>
                  <a:lnTo>
                    <a:pt x="4210050" y="0"/>
                  </a:lnTo>
                  <a:cubicBezTo>
                    <a:pt x="4675124" y="0"/>
                    <a:pt x="5052060" y="376936"/>
                    <a:pt x="5052060" y="842010"/>
                  </a:cubicBezTo>
                  <a:lnTo>
                    <a:pt x="5052060" y="6406388"/>
                  </a:lnTo>
                  <a:cubicBezTo>
                    <a:pt x="5052060" y="6871462"/>
                    <a:pt x="4675124" y="7248398"/>
                    <a:pt x="4210050" y="7248398"/>
                  </a:cubicBezTo>
                  <a:lnTo>
                    <a:pt x="842010" y="7248398"/>
                  </a:lnTo>
                  <a:cubicBezTo>
                    <a:pt x="376936" y="7248398"/>
                    <a:pt x="0" y="6871462"/>
                    <a:pt x="0" y="6406388"/>
                  </a:cubicBez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D9E2F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181552" y="2120494"/>
            <a:ext cx="3789150" cy="330013"/>
            <a:chOff x="0" y="0"/>
            <a:chExt cx="5052200" cy="4400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52187" cy="440055"/>
            </a:xfrm>
            <a:custGeom>
              <a:avLst/>
              <a:gdLst/>
              <a:ahLst/>
              <a:cxnLst/>
              <a:rect r="r" b="b" t="t" l="l"/>
              <a:pathLst>
                <a:path h="440055" w="5052187">
                  <a:moveTo>
                    <a:pt x="0" y="0"/>
                  </a:moveTo>
                  <a:lnTo>
                    <a:pt x="5052187" y="0"/>
                  </a:lnTo>
                  <a:lnTo>
                    <a:pt x="5052187" y="440055"/>
                  </a:lnTo>
                  <a:lnTo>
                    <a:pt x="0" y="440055"/>
                  </a:lnTo>
                  <a:close/>
                </a:path>
              </a:pathLst>
            </a:custGeom>
            <a:solidFill>
              <a:srgbClr val="27364B"/>
            </a:solidFill>
            <a:ln w="14299" cap="sq">
              <a:solidFill>
                <a:srgbClr val="27364B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5554675" y="2791063"/>
            <a:ext cx="3042904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Galaxy S25 Ultra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54675" y="4026475"/>
            <a:ext cx="3042904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27364B"/>
                </a:solidFill>
                <a:latin typeface="Aptos Bold"/>
                <a:ea typeface="Aptos Bold"/>
                <a:cs typeface="Aptos Bold"/>
                <a:sym typeface="Aptos Bold"/>
              </a:rPr>
              <a:t>Productividad + zoom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78013" y="2120494"/>
            <a:ext cx="3789150" cy="5436356"/>
            <a:chOff x="0" y="0"/>
            <a:chExt cx="5052200" cy="72484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52060" cy="7248398"/>
            </a:xfrm>
            <a:custGeom>
              <a:avLst/>
              <a:gdLst/>
              <a:ahLst/>
              <a:cxnLst/>
              <a:rect r="r" b="b" t="t" l="l"/>
              <a:pathLst>
                <a:path h="7248398" w="5052060">
                  <a:moveTo>
                    <a:pt x="0" y="842010"/>
                  </a:moveTo>
                  <a:cubicBezTo>
                    <a:pt x="0" y="376936"/>
                    <a:pt x="376936" y="0"/>
                    <a:pt x="842010" y="0"/>
                  </a:cubicBezTo>
                  <a:lnTo>
                    <a:pt x="4210050" y="0"/>
                  </a:lnTo>
                  <a:cubicBezTo>
                    <a:pt x="4675124" y="0"/>
                    <a:pt x="5052060" y="376936"/>
                    <a:pt x="5052060" y="842010"/>
                  </a:cubicBezTo>
                  <a:lnTo>
                    <a:pt x="5052060" y="6406388"/>
                  </a:lnTo>
                  <a:cubicBezTo>
                    <a:pt x="5052060" y="6871462"/>
                    <a:pt x="4675124" y="7248398"/>
                    <a:pt x="4210050" y="7248398"/>
                  </a:cubicBezTo>
                  <a:lnTo>
                    <a:pt x="842010" y="7248398"/>
                  </a:lnTo>
                  <a:cubicBezTo>
                    <a:pt x="376936" y="7248398"/>
                    <a:pt x="0" y="6871462"/>
                    <a:pt x="0" y="6406388"/>
                  </a:cubicBez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D9E2F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478013" y="2120494"/>
            <a:ext cx="3789150" cy="330013"/>
            <a:chOff x="0" y="0"/>
            <a:chExt cx="5052200" cy="4400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52187" cy="440055"/>
            </a:xfrm>
            <a:custGeom>
              <a:avLst/>
              <a:gdLst/>
              <a:ahLst/>
              <a:cxnLst/>
              <a:rect r="r" b="b" t="t" l="l"/>
              <a:pathLst>
                <a:path h="440055" w="5052187">
                  <a:moveTo>
                    <a:pt x="0" y="0"/>
                  </a:moveTo>
                  <a:lnTo>
                    <a:pt x="5052187" y="0"/>
                  </a:lnTo>
                  <a:lnTo>
                    <a:pt x="5052187" y="440055"/>
                  </a:lnTo>
                  <a:lnTo>
                    <a:pt x="0" y="440055"/>
                  </a:lnTo>
                  <a:close/>
                </a:path>
              </a:pathLst>
            </a:custGeom>
            <a:solidFill>
              <a:srgbClr val="6B7280"/>
            </a:solidFill>
            <a:ln w="14299" cap="sq">
              <a:solidFill>
                <a:srgbClr val="6B7280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51146" y="2791063"/>
            <a:ext cx="3042904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iPhone 16 Pro Max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51146" y="4026475"/>
            <a:ext cx="3042904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6B7280"/>
                </a:solidFill>
                <a:latin typeface="Aptos Bold"/>
                <a:ea typeface="Aptos Bold"/>
                <a:cs typeface="Aptos Bold"/>
                <a:sym typeface="Aptos Bold"/>
              </a:rPr>
              <a:t>Ecosistema + video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774484" y="2120494"/>
            <a:ext cx="3789150" cy="5436356"/>
            <a:chOff x="0" y="0"/>
            <a:chExt cx="5052200" cy="72484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52060" cy="7248398"/>
            </a:xfrm>
            <a:custGeom>
              <a:avLst/>
              <a:gdLst/>
              <a:ahLst/>
              <a:cxnLst/>
              <a:rect r="r" b="b" t="t" l="l"/>
              <a:pathLst>
                <a:path h="7248398" w="5052060">
                  <a:moveTo>
                    <a:pt x="0" y="842010"/>
                  </a:moveTo>
                  <a:cubicBezTo>
                    <a:pt x="0" y="376936"/>
                    <a:pt x="376936" y="0"/>
                    <a:pt x="842010" y="0"/>
                  </a:cubicBezTo>
                  <a:lnTo>
                    <a:pt x="4210050" y="0"/>
                  </a:lnTo>
                  <a:cubicBezTo>
                    <a:pt x="4675124" y="0"/>
                    <a:pt x="5052060" y="376936"/>
                    <a:pt x="5052060" y="842010"/>
                  </a:cubicBezTo>
                  <a:lnTo>
                    <a:pt x="5052060" y="6406388"/>
                  </a:lnTo>
                  <a:cubicBezTo>
                    <a:pt x="5052060" y="6871462"/>
                    <a:pt x="4675124" y="7248398"/>
                    <a:pt x="4210050" y="7248398"/>
                  </a:cubicBezTo>
                  <a:lnTo>
                    <a:pt x="842010" y="7248398"/>
                  </a:lnTo>
                  <a:cubicBezTo>
                    <a:pt x="376936" y="7248398"/>
                    <a:pt x="0" y="6871462"/>
                    <a:pt x="0" y="6406388"/>
                  </a:cubicBez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D9E2F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774484" y="2120494"/>
            <a:ext cx="3789150" cy="330013"/>
            <a:chOff x="0" y="0"/>
            <a:chExt cx="5052200" cy="44001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52187" cy="440055"/>
            </a:xfrm>
            <a:custGeom>
              <a:avLst/>
              <a:gdLst/>
              <a:ahLst/>
              <a:cxnLst/>
              <a:rect r="r" b="b" t="t" l="l"/>
              <a:pathLst>
                <a:path h="440055" w="5052187">
                  <a:moveTo>
                    <a:pt x="0" y="0"/>
                  </a:moveTo>
                  <a:lnTo>
                    <a:pt x="5052187" y="0"/>
                  </a:lnTo>
                  <a:lnTo>
                    <a:pt x="5052187" y="440055"/>
                  </a:lnTo>
                  <a:lnTo>
                    <a:pt x="0" y="440055"/>
                  </a:lnTo>
                  <a:close/>
                </a:path>
              </a:pathLst>
            </a:custGeom>
            <a:solidFill>
              <a:srgbClr val="2A9D8F"/>
            </a:solidFill>
            <a:ln w="14299" cap="sq">
              <a:solidFill>
                <a:srgbClr val="2A9D8F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4147606" y="2791063"/>
            <a:ext cx="3042904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Pixel 9 Pro XL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47606" y="4026475"/>
            <a:ext cx="3042904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Cámara + 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6842" y="8213122"/>
            <a:ext cx="3935139" cy="34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E5BFF"/>
                </a:solidFill>
                <a:latin typeface="Aptos Bold"/>
                <a:ea typeface="Aptos Bold"/>
                <a:cs typeface="Aptos Bold"/>
                <a:sym typeface="Aptos Bold"/>
              </a:rPr>
              <a:t>VENTAJA DEL ONEPLUS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895793" y="8057921"/>
            <a:ext cx="5307806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Más batería y carga por el precio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47352" y="8213122"/>
            <a:ext cx="1189796" cy="34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E45756"/>
                </a:solidFill>
                <a:latin typeface="Aptos Bold"/>
                <a:ea typeface="Aptos Bold"/>
                <a:cs typeface="Aptos Bold"/>
                <a:sym typeface="Aptos Bold"/>
              </a:rPr>
              <a:t>RIESGO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88656" y="8089582"/>
            <a:ext cx="4484208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Menor soporte y distribución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46411" y="9864528"/>
            <a:ext cx="16014659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Comparación de posicionamiento; capacidades pueden variar por región.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504499" y="255822"/>
            <a:ext cx="2905630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ONEPLUS 13  ·  EQUIPO [NÚMERO]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146" y="526151"/>
            <a:ext cx="640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32744" y="425863"/>
            <a:ext cx="15877384" cy="69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Mercado e impacto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6469" y="1226220"/>
            <a:ext cx="1546559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El valor técnico compite con alcance comercial y vida útil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0940" y="2104730"/>
            <a:ext cx="4072404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5"/>
              </a:lnSpc>
            </a:pPr>
            <a:r>
              <a:rPr lang="en-US" sz="5554" b="true">
                <a:solidFill>
                  <a:srgbClr val="2E5BFF"/>
                </a:solidFill>
                <a:latin typeface="Aptos Bold"/>
                <a:ea typeface="Aptos Bold"/>
                <a:cs typeface="Aptos Bold"/>
                <a:sym typeface="Aptos Bold"/>
              </a:rPr>
              <a:t>USD 899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2126" y="2996965"/>
            <a:ext cx="420966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precio global de lanzamiento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74371" y="2104730"/>
            <a:ext cx="4758738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5"/>
              </a:lnSpc>
            </a:pPr>
            <a:r>
              <a:rPr lang="en-US" sz="5554" b="true">
                <a:solidFill>
                  <a:srgbClr val="2E5BFF"/>
                </a:solidFill>
                <a:latin typeface="Aptos Bold"/>
                <a:ea typeface="Aptos Bold"/>
                <a:cs typeface="Aptos Bold"/>
                <a:sym typeface="Aptos Bold"/>
              </a:rPr>
              <a:t>MXN 22,999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15548" y="2996965"/>
            <a:ext cx="420966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precio anunciado en México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51391" y="2104730"/>
            <a:ext cx="3386071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5"/>
              </a:lnSpc>
            </a:pPr>
            <a:r>
              <a:rPr lang="en-US" sz="5554" b="true">
                <a:solidFill>
                  <a:srgbClr val="2E5BFF"/>
                </a:solidFill>
                <a:latin typeface="Aptos Bold"/>
                <a:ea typeface="Aptos Bold"/>
                <a:cs typeface="Aptos Bold"/>
                <a:sym typeface="Aptos Bold"/>
              </a:rPr>
              <a:t>+17 %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92577" y="2996965"/>
            <a:ext cx="4209669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crecimiento previsto del segmento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USD 600–799 en 2024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2356" y="4591307"/>
            <a:ext cx="7769895" cy="3102807"/>
            <a:chOff x="0" y="0"/>
            <a:chExt cx="10359860" cy="41370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59771" cy="4137025"/>
            </a:xfrm>
            <a:custGeom>
              <a:avLst/>
              <a:gdLst/>
              <a:ahLst/>
              <a:cxnLst/>
              <a:rect r="r" b="b" t="t" l="l"/>
              <a:pathLst>
                <a:path h="4137025" w="10359771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9670288" y="0"/>
                  </a:lnTo>
                  <a:cubicBezTo>
                    <a:pt x="10051161" y="0"/>
                    <a:pt x="10359771" y="308737"/>
                    <a:pt x="10359771" y="689483"/>
                  </a:cubicBezTo>
                  <a:lnTo>
                    <a:pt x="10359771" y="3447542"/>
                  </a:lnTo>
                  <a:cubicBezTo>
                    <a:pt x="10359771" y="3828415"/>
                    <a:pt x="10051034" y="4137025"/>
                    <a:pt x="9670288" y="4137025"/>
                  </a:cubicBezTo>
                  <a:lnTo>
                    <a:pt x="689483" y="4137025"/>
                  </a:lnTo>
                  <a:cubicBezTo>
                    <a:pt x="308737" y="4137025"/>
                    <a:pt x="0" y="3828415"/>
                    <a:pt x="0" y="3447542"/>
                  </a:cubicBezTo>
                  <a:close/>
                </a:path>
              </a:pathLst>
            </a:custGeom>
            <a:solidFill>
              <a:srgbClr val="E8F6F3"/>
            </a:solidFill>
            <a:ln w="14299" cap="sq">
              <a:solidFill>
                <a:srgbClr val="E8F6F3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532744" y="5097151"/>
            <a:ext cx="324879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Impacto positivo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2744" y="5879573"/>
            <a:ext cx="6405944" cy="162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• Menos recargas durante el día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• Cámara y productividad en un solo equipo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• Presión competitiva sobre precios premium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64288" y="4591307"/>
            <a:ext cx="7769895" cy="3102807"/>
            <a:chOff x="0" y="0"/>
            <a:chExt cx="10359860" cy="41370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59771" cy="4137025"/>
            </a:xfrm>
            <a:custGeom>
              <a:avLst/>
              <a:gdLst/>
              <a:ahLst/>
              <a:cxnLst/>
              <a:rect r="r" b="b" t="t" l="l"/>
              <a:pathLst>
                <a:path h="4137025" w="10359771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9670288" y="0"/>
                  </a:lnTo>
                  <a:cubicBezTo>
                    <a:pt x="10051161" y="0"/>
                    <a:pt x="10359771" y="308737"/>
                    <a:pt x="10359771" y="689483"/>
                  </a:cubicBezTo>
                  <a:lnTo>
                    <a:pt x="10359771" y="3447542"/>
                  </a:lnTo>
                  <a:cubicBezTo>
                    <a:pt x="10359771" y="3828415"/>
                    <a:pt x="10051034" y="4137025"/>
                    <a:pt x="9670288" y="4137025"/>
                  </a:cubicBezTo>
                  <a:lnTo>
                    <a:pt x="689483" y="4137025"/>
                  </a:lnTo>
                  <a:cubicBezTo>
                    <a:pt x="308737" y="4137025"/>
                    <a:pt x="0" y="3828415"/>
                    <a:pt x="0" y="3447542"/>
                  </a:cubicBezTo>
                  <a:close/>
                </a:path>
              </a:pathLst>
            </a:custGeom>
            <a:solidFill>
              <a:srgbClr val="FCEBEC"/>
            </a:solidFill>
            <a:ln w="14299" cap="sq">
              <a:solidFill>
                <a:srgbClr val="FCEBEC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974685" y="5097151"/>
            <a:ext cx="393513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E45756"/>
                </a:solidFill>
                <a:latin typeface="Aptos Bold"/>
                <a:ea typeface="Aptos Bold"/>
                <a:cs typeface="Aptos Bold"/>
                <a:sym typeface="Aptos Bold"/>
              </a:rPr>
              <a:t>Costo social y ambiental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74685" y="5879573"/>
            <a:ext cx="6405944" cy="162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• Reparaciones y acceso costosos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• Ciclos de sustitución más frecuentes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• Información ambiental por producto limitada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6411" y="9864528"/>
            <a:ext cx="16014659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Fuentes: Counterpoint Research; Xataka México; The Guardian.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04499" y="255822"/>
            <a:ext cx="2905630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ONEPLUS 13  ·  EQUIPO [NÚMERO]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146" y="526151"/>
            <a:ext cx="640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32744" y="425863"/>
            <a:ext cx="15877384" cy="69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Seguridad: el hardware no basta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6469" y="1226220"/>
            <a:ext cx="1546559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El soporte y la respuesta a vulnerabilidades determinan el riesgo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3719" y="1983229"/>
            <a:ext cx="4887287" cy="6534493"/>
            <a:chOff x="0" y="0"/>
            <a:chExt cx="6516383" cy="871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16370" cy="8712708"/>
            </a:xfrm>
            <a:custGeom>
              <a:avLst/>
              <a:gdLst/>
              <a:ahLst/>
              <a:cxnLst/>
              <a:rect r="r" b="b" t="t" l="l"/>
              <a:pathLst>
                <a:path h="8712708" w="6516370">
                  <a:moveTo>
                    <a:pt x="0" y="1086104"/>
                  </a:moveTo>
                  <a:cubicBezTo>
                    <a:pt x="0" y="486283"/>
                    <a:pt x="486283" y="0"/>
                    <a:pt x="1086104" y="0"/>
                  </a:cubicBezTo>
                  <a:lnTo>
                    <a:pt x="5430266" y="0"/>
                  </a:lnTo>
                  <a:cubicBezTo>
                    <a:pt x="6030087" y="0"/>
                    <a:pt x="6516370" y="486283"/>
                    <a:pt x="6516370" y="1086104"/>
                  </a:cubicBezTo>
                  <a:lnTo>
                    <a:pt x="6516370" y="7626604"/>
                  </a:lnTo>
                  <a:cubicBezTo>
                    <a:pt x="6516370" y="8226425"/>
                    <a:pt x="6030087" y="8712708"/>
                    <a:pt x="5430266" y="8712708"/>
                  </a:cubicBezTo>
                  <a:lnTo>
                    <a:pt x="1086104" y="8712708"/>
                  </a:lnTo>
                  <a:cubicBezTo>
                    <a:pt x="486283" y="8712708"/>
                    <a:pt x="0" y="8226425"/>
                    <a:pt x="0" y="7626604"/>
                  </a:cubicBezTo>
                  <a:close/>
                </a:path>
              </a:pathLst>
            </a:custGeom>
            <a:solidFill>
              <a:srgbClr val="E8F6F3"/>
            </a:solidFill>
            <a:ln w="14299" cap="sq">
              <a:solidFill>
                <a:srgbClr val="E8F6F3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64116" y="2543985"/>
            <a:ext cx="3660600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FORTALEZAS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4116" y="3408769"/>
            <a:ext cx="3797875" cy="388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Arranque verificado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Cifrado y aislamiento de apps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Huella ultrasónica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6 años de parches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91493" y="1983229"/>
            <a:ext cx="4887287" cy="6534493"/>
            <a:chOff x="0" y="0"/>
            <a:chExt cx="6516383" cy="87126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16370" cy="8712708"/>
            </a:xfrm>
            <a:custGeom>
              <a:avLst/>
              <a:gdLst/>
              <a:ahLst/>
              <a:cxnLst/>
              <a:rect r="r" b="b" t="t" l="l"/>
              <a:pathLst>
                <a:path h="8712708" w="6516370">
                  <a:moveTo>
                    <a:pt x="0" y="1086104"/>
                  </a:moveTo>
                  <a:cubicBezTo>
                    <a:pt x="0" y="486283"/>
                    <a:pt x="486283" y="0"/>
                    <a:pt x="1086104" y="0"/>
                  </a:cubicBezTo>
                  <a:lnTo>
                    <a:pt x="5430266" y="0"/>
                  </a:lnTo>
                  <a:cubicBezTo>
                    <a:pt x="6030087" y="0"/>
                    <a:pt x="6516370" y="486283"/>
                    <a:pt x="6516370" y="1086104"/>
                  </a:cubicBezTo>
                  <a:lnTo>
                    <a:pt x="6516370" y="7626604"/>
                  </a:lnTo>
                  <a:cubicBezTo>
                    <a:pt x="6516370" y="8226425"/>
                    <a:pt x="6030087" y="8712708"/>
                    <a:pt x="5430266" y="8712708"/>
                  </a:cubicBezTo>
                  <a:lnTo>
                    <a:pt x="1086104" y="8712708"/>
                  </a:lnTo>
                  <a:cubicBezTo>
                    <a:pt x="486283" y="8712708"/>
                    <a:pt x="0" y="8226425"/>
                    <a:pt x="0" y="7626604"/>
                  </a:cubicBezTo>
                  <a:close/>
                </a:path>
              </a:pathLst>
            </a:custGeom>
            <a:solidFill>
              <a:srgbClr val="FCEBEC"/>
            </a:solidFill>
            <a:ln w="14299" cap="sq">
              <a:solidFill>
                <a:srgbClr val="FCEBEC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7201881" y="2543985"/>
            <a:ext cx="3660600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E45756"/>
                </a:solidFill>
                <a:latin typeface="Aptos Bold"/>
                <a:ea typeface="Aptos Bold"/>
                <a:cs typeface="Aptos Bold"/>
                <a:sym typeface="Aptos Bold"/>
              </a:rPr>
              <a:t>RIESGOS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01881" y="3408769"/>
            <a:ext cx="3797875" cy="388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Apps maliciosas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Phishing y robo de cuenta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4 versiones de Android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CVE-2025-10184 en OxygenOS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415533" y="1983229"/>
            <a:ext cx="4887287" cy="6534493"/>
            <a:chOff x="0" y="0"/>
            <a:chExt cx="6516383" cy="87126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16370" cy="8712708"/>
            </a:xfrm>
            <a:custGeom>
              <a:avLst/>
              <a:gdLst/>
              <a:ahLst/>
              <a:cxnLst/>
              <a:rect r="r" b="b" t="t" l="l"/>
              <a:pathLst>
                <a:path h="8712708" w="6516370">
                  <a:moveTo>
                    <a:pt x="0" y="1086104"/>
                  </a:moveTo>
                  <a:cubicBezTo>
                    <a:pt x="0" y="486283"/>
                    <a:pt x="486283" y="0"/>
                    <a:pt x="1086104" y="0"/>
                  </a:cubicBezTo>
                  <a:lnTo>
                    <a:pt x="5430266" y="0"/>
                  </a:lnTo>
                  <a:cubicBezTo>
                    <a:pt x="6030087" y="0"/>
                    <a:pt x="6516370" y="486283"/>
                    <a:pt x="6516370" y="1086104"/>
                  </a:cubicBezTo>
                  <a:lnTo>
                    <a:pt x="6516370" y="7626604"/>
                  </a:lnTo>
                  <a:cubicBezTo>
                    <a:pt x="6516370" y="8226425"/>
                    <a:pt x="6030087" y="8712708"/>
                    <a:pt x="5430266" y="8712708"/>
                  </a:cubicBezTo>
                  <a:lnTo>
                    <a:pt x="1086104" y="8712708"/>
                  </a:lnTo>
                  <a:cubicBezTo>
                    <a:pt x="486283" y="8712708"/>
                    <a:pt x="0" y="8226425"/>
                    <a:pt x="0" y="7626604"/>
                  </a:cubicBezTo>
                  <a:close/>
                </a:path>
              </a:pathLst>
            </a:custGeom>
            <a:solidFill>
              <a:srgbClr val="EAF0FF"/>
            </a:solidFill>
            <a:ln w="14299" cap="sq">
              <a:solidFill>
                <a:srgbClr val="EAF0F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925930" y="2543985"/>
            <a:ext cx="3660600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E5BFF"/>
                </a:solidFill>
                <a:latin typeface="Aptos Bold"/>
                <a:ea typeface="Aptos Bold"/>
                <a:cs typeface="Aptos Bold"/>
                <a:sym typeface="Aptos Bold"/>
              </a:rPr>
              <a:t>PRÁCTICAS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25930" y="3408769"/>
            <a:ext cx="3797875" cy="388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Actualizar pronto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Instalar desde fuentes confiables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Usar PIN robusto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Preferir passkeys o app 2FA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6411" y="9864528"/>
            <a:ext cx="16014659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Fuente: OnePlus; The Verge sobre CVE-2025-10184.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04499" y="255822"/>
            <a:ext cx="2905630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ONEPLUS 13  ·  EQUIPO [NÚMERO]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146" y="526151"/>
            <a:ext cx="640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32744" y="425863"/>
            <a:ext cx="15877384" cy="69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FODA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6469" y="1226220"/>
            <a:ext cx="1546559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Síntesis para decidir dónde debe mejorar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85092" y="1845955"/>
            <a:ext cx="8113062" cy="2965542"/>
            <a:chOff x="0" y="0"/>
            <a:chExt cx="10817416" cy="39540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17352" cy="3954018"/>
            </a:xfrm>
            <a:custGeom>
              <a:avLst/>
              <a:gdLst/>
              <a:ahLst/>
              <a:cxnLst/>
              <a:rect r="r" b="b" t="t" l="l"/>
              <a:pathLst>
                <a:path h="3954018" w="10817352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10158349" y="0"/>
                  </a:lnTo>
                  <a:cubicBezTo>
                    <a:pt x="10522331" y="0"/>
                    <a:pt x="10817352" y="295021"/>
                    <a:pt x="10817352" y="659003"/>
                  </a:cubicBezTo>
                  <a:lnTo>
                    <a:pt x="10817352" y="3295015"/>
                  </a:lnTo>
                  <a:cubicBezTo>
                    <a:pt x="10817352" y="3658997"/>
                    <a:pt x="10522331" y="3954018"/>
                    <a:pt x="10158349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E8F6F3"/>
            </a:solidFill>
            <a:ln w="14299" cap="sq">
              <a:solidFill>
                <a:srgbClr val="E8F6F3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95479" y="2269446"/>
            <a:ext cx="324879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FORTALEZAS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5479" y="3024416"/>
            <a:ext cx="6817747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Rendimiento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Batería y carga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Pantalla y protección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58386" y="1845955"/>
            <a:ext cx="8113062" cy="2965542"/>
            <a:chOff x="0" y="0"/>
            <a:chExt cx="10817416" cy="39540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17352" cy="3954018"/>
            </a:xfrm>
            <a:custGeom>
              <a:avLst/>
              <a:gdLst/>
              <a:ahLst/>
              <a:cxnLst/>
              <a:rect r="r" b="b" t="t" l="l"/>
              <a:pathLst>
                <a:path h="3954018" w="10817352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10158349" y="0"/>
                  </a:lnTo>
                  <a:cubicBezTo>
                    <a:pt x="10522331" y="0"/>
                    <a:pt x="10817352" y="295021"/>
                    <a:pt x="10817352" y="659003"/>
                  </a:cubicBezTo>
                  <a:lnTo>
                    <a:pt x="10817352" y="3295015"/>
                  </a:lnTo>
                  <a:cubicBezTo>
                    <a:pt x="10817352" y="3658997"/>
                    <a:pt x="10522331" y="3954018"/>
                    <a:pt x="10158349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EAF0FF"/>
            </a:solidFill>
            <a:ln w="14299" cap="sq">
              <a:solidFill>
                <a:srgbClr val="EAF0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768783" y="2269446"/>
            <a:ext cx="324879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E5BFF"/>
                </a:solidFill>
                <a:latin typeface="Aptos Bold"/>
                <a:ea typeface="Aptos Bold"/>
                <a:cs typeface="Aptos Bold"/>
                <a:sym typeface="Aptos Bold"/>
              </a:rPr>
              <a:t>OPORTUNIDADES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68783" y="3024416"/>
            <a:ext cx="6817747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IA local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Expansión regional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Reparación y recompra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85092" y="5552170"/>
            <a:ext cx="8113062" cy="2965542"/>
            <a:chOff x="0" y="0"/>
            <a:chExt cx="10817416" cy="39540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17352" cy="3954018"/>
            </a:xfrm>
            <a:custGeom>
              <a:avLst/>
              <a:gdLst/>
              <a:ahLst/>
              <a:cxnLst/>
              <a:rect r="r" b="b" t="t" l="l"/>
              <a:pathLst>
                <a:path h="3954018" w="10817352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10158349" y="0"/>
                  </a:lnTo>
                  <a:cubicBezTo>
                    <a:pt x="10522331" y="0"/>
                    <a:pt x="10817352" y="295021"/>
                    <a:pt x="10817352" y="659003"/>
                  </a:cubicBezTo>
                  <a:lnTo>
                    <a:pt x="10817352" y="3295015"/>
                  </a:lnTo>
                  <a:cubicBezTo>
                    <a:pt x="10817352" y="3658997"/>
                    <a:pt x="10522331" y="3954018"/>
                    <a:pt x="10158349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FCEBEC"/>
            </a:solidFill>
            <a:ln w="14299" cap="sq">
              <a:solidFill>
                <a:srgbClr val="FCEBEC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95479" y="5975661"/>
            <a:ext cx="324879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E45756"/>
                </a:solidFill>
                <a:latin typeface="Aptos Bold"/>
                <a:ea typeface="Aptos Bold"/>
                <a:cs typeface="Aptos Bold"/>
                <a:sym typeface="Aptos Bold"/>
              </a:rPr>
              <a:t>DEBILIDADES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5479" y="6730632"/>
            <a:ext cx="6817747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Soporte más corto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Servicio limitado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Datos ambientales escasos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58386" y="5552170"/>
            <a:ext cx="8113062" cy="2965542"/>
            <a:chOff x="0" y="0"/>
            <a:chExt cx="10817416" cy="3954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17352" cy="3954018"/>
            </a:xfrm>
            <a:custGeom>
              <a:avLst/>
              <a:gdLst/>
              <a:ahLst/>
              <a:cxnLst/>
              <a:rect r="r" b="b" t="t" l="l"/>
              <a:pathLst>
                <a:path h="3954018" w="10817352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10158349" y="0"/>
                  </a:lnTo>
                  <a:cubicBezTo>
                    <a:pt x="10522331" y="0"/>
                    <a:pt x="10817352" y="295021"/>
                    <a:pt x="10817352" y="659003"/>
                  </a:cubicBezTo>
                  <a:lnTo>
                    <a:pt x="10817352" y="3295015"/>
                  </a:lnTo>
                  <a:cubicBezTo>
                    <a:pt x="10817352" y="3658997"/>
                    <a:pt x="10522331" y="3954018"/>
                    <a:pt x="10158349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FFF4E5"/>
            </a:solidFill>
            <a:ln w="14299" cap="sq">
              <a:solidFill>
                <a:srgbClr val="FFF4E5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768783" y="5975661"/>
            <a:ext cx="324879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A06500"/>
                </a:solidFill>
                <a:latin typeface="Aptos Bold"/>
                <a:ea typeface="Aptos Bold"/>
                <a:cs typeface="Aptos Bold"/>
                <a:sym typeface="Aptos Bold"/>
              </a:rPr>
              <a:t>AMENAZAS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68783" y="6730632"/>
            <a:ext cx="6817747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Rivales consolidados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Fallas de software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7233B"/>
                </a:solidFill>
                <a:latin typeface="Aptos"/>
                <a:ea typeface="Aptos"/>
                <a:cs typeface="Aptos"/>
                <a:sym typeface="Aptos"/>
              </a:rPr>
              <a:t>Mercado premium saturado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6411" y="9864528"/>
            <a:ext cx="16014659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Elaboración propia con base en el análisis.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04499" y="255822"/>
            <a:ext cx="2905630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ONEPLUS 13  ·  EQUIPO [NÚMERO]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146" y="526151"/>
            <a:ext cx="640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32744" y="425863"/>
            <a:ext cx="15877384" cy="69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Nuestra siguiente versión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6469" y="1226220"/>
            <a:ext cx="1546559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Más años de valor, no solamente números más grandes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3675" y="2173367"/>
            <a:ext cx="572091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34734" y="2132181"/>
            <a:ext cx="290563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7 años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34734" y="2996965"/>
            <a:ext cx="2699728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Sistema y seguridad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66411" y="2173367"/>
            <a:ext cx="572091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17469" y="2132181"/>
            <a:ext cx="290563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Qi2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17469" y="2996965"/>
            <a:ext cx="2699728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Imanes integrados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49155" y="2173367"/>
            <a:ext cx="572091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00214" y="2132181"/>
            <a:ext cx="290563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Reparable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00214" y="2996965"/>
            <a:ext cx="2699728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Batería y repuestos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31891" y="2173367"/>
            <a:ext cx="572091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82949" y="2132181"/>
            <a:ext cx="290563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7233B"/>
                </a:solidFill>
                <a:latin typeface="Aptos Bold"/>
                <a:ea typeface="Aptos Bold"/>
                <a:cs typeface="Aptos Bold"/>
                <a:sym typeface="Aptos Bold"/>
              </a:rPr>
              <a:t>IA privada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82949" y="2996965"/>
            <a:ext cx="2699728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Más tareas en la NPU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1170" y="4316768"/>
            <a:ext cx="16280463" cy="3102807"/>
            <a:chOff x="0" y="0"/>
            <a:chExt cx="21707284" cy="41370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07221" cy="4137025"/>
            </a:xfrm>
            <a:custGeom>
              <a:avLst/>
              <a:gdLst/>
              <a:ahLst/>
              <a:cxnLst/>
              <a:rect r="r" b="b" t="t" l="l"/>
              <a:pathLst>
                <a:path h="4137025" w="21707221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21017737" y="0"/>
                  </a:lnTo>
                  <a:cubicBezTo>
                    <a:pt x="21398610" y="0"/>
                    <a:pt x="21707221" y="308737"/>
                    <a:pt x="21707221" y="689483"/>
                  </a:cubicBezTo>
                  <a:lnTo>
                    <a:pt x="21707221" y="3447542"/>
                  </a:lnTo>
                  <a:cubicBezTo>
                    <a:pt x="21707221" y="3828415"/>
                    <a:pt x="21398483" y="4137025"/>
                    <a:pt x="21017737" y="4137025"/>
                  </a:cubicBezTo>
                  <a:lnTo>
                    <a:pt x="689483" y="4137025"/>
                  </a:lnTo>
                  <a:cubicBezTo>
                    <a:pt x="308737" y="4137025"/>
                    <a:pt x="0" y="3828415"/>
                    <a:pt x="0" y="3447542"/>
                  </a:cubicBezTo>
                  <a:close/>
                </a:path>
              </a:pathLst>
            </a:custGeom>
            <a:solidFill>
              <a:srgbClr val="17233B"/>
            </a:solidFill>
            <a:ln w="14299" cap="sq">
              <a:solidFill>
                <a:srgbClr val="17233B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555766" y="4617191"/>
            <a:ext cx="2837002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51C7E8"/>
                </a:solidFill>
                <a:latin typeface="Aptos Bold"/>
                <a:ea typeface="Aptos Bold"/>
                <a:cs typeface="Aptos Bold"/>
                <a:sym typeface="Aptos Bold"/>
              </a:rPr>
              <a:t>Conclusión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01381" y="5227553"/>
            <a:ext cx="14367443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El OnePlus 13 destaca por convertir potencia y batería en una experiencia competitiva. Su futuro dependerá de igualar esa ambición técnica con soporte prolongado, seguridad oportuna y mayor responsabilidad ambiental.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23889" y="8076800"/>
            <a:ext cx="879842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4"/>
              </a:lnSpc>
            </a:pPr>
            <a:r>
              <a:rPr lang="en-US" b="true" sz="4503" u="sng">
                <a:solidFill>
                  <a:srgbClr val="2E5BFF"/>
                </a:solidFill>
                <a:latin typeface="Aptos Bold"/>
                <a:ea typeface="Aptos Bold"/>
                <a:cs typeface="Aptos Bold"/>
                <a:sym typeface="Aptos Bold"/>
                <a:hlinkClick r:id="rId3" tooltip="https://vt.tiktok.com/ZSqnrNyBc/"/>
              </a:rPr>
              <a:t>https://vt.tiktok.com/ZSqnrNyBc/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6411" y="9864528"/>
            <a:ext cx="16014659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Propuesta del equipo.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504499" y="255822"/>
            <a:ext cx="2905630" cy="1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>
                <a:solidFill>
                  <a:srgbClr val="52606D"/>
                </a:solidFill>
                <a:latin typeface="Aptos"/>
                <a:ea typeface="Aptos"/>
                <a:cs typeface="Aptos"/>
                <a:sym typeface="Aptos"/>
              </a:rPr>
              <a:t>ONEPLUS 13  ·  EQUIPO [NÚMERO]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DAHVlIinGCQ</dc:identifier>
  <dcterms:modified xsi:type="dcterms:W3CDTF">2011-08-01T06:04:30Z</dcterms:modified>
  <cp:revision>1</cp:revision>
  <dc:title>Presentacion_OnePlus_13.pptx</dc:title>
</cp:coreProperties>
</file>